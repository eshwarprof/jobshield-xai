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Trebuchet MS"/>
              </a:defRPr>
            </a:pPr>
            <a:r>
              <a:t>Explainable Fake Job Advertisement</a:t>
            </a:r>
            <a:br/>
            <a:r>
              <a:t>Detection Framework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  <a:latin typeface="Calibri"/>
              </a:defRPr>
            </a:pPr>
            <a:r>
              <a:t>A Trust-Aware, Auditable Decision Support System for Online Recruitment Fraud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931920"/>
            <a:ext cx="36576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0A5FA"/>
                </a:solidFill>
                <a:latin typeface="Trebuchet MS"/>
              </a:rPr>
              <a:t>MODEL BASELINE: </a:t>
            </a:r>
            <a:r>
              <a:rPr sz="1200">
                <a:solidFill>
                  <a:srgbClr val="94A3B8"/>
                </a:solidFill>
                <a:latin typeface="Calibri"/>
              </a:rPr>
              <a:t>Fraud-BERT (Discover Computing, 2025)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0A5FA"/>
                </a:solidFill>
                <a:latin typeface="Trebuchet MS"/>
              </a:rPr>
              <a:t>CORE STACK: </a:t>
            </a:r>
            <a:r>
              <a:rPr sz="1200">
                <a:solidFill>
                  <a:srgbClr val="94A3B8"/>
                </a:solidFill>
                <a:latin typeface="Calibri"/>
              </a:rPr>
              <a:t>React / Node.js / FastAPI / MongoDB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0A5FA"/>
                </a:solidFill>
                <a:latin typeface="Trebuchet MS"/>
              </a:rPr>
              <a:t>INTEGRATION: </a:t>
            </a:r>
            <a:r>
              <a:rPr sz="1200">
                <a:solidFill>
                  <a:srgbClr val="94A3B8"/>
                </a:solidFill>
                <a:latin typeface="Calibri"/>
              </a:rPr>
              <a:t>SHAP &amp; LIME XAI, Heuristics Scorecard, OCR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1. Introduction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Problem Statement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Explosion of Recruitment Fraud: </a:t>
            </a:r>
            <a:r>
              <a:rPr>
                <a:solidFill>
                  <a:srgbClr val="94A3B8"/>
                </a:solidFill>
              </a:rPr>
              <a:t>The rapid growth of online job hunting has made job seekers vulnerable to sophisticated spoofing schemes and fake postings.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Significant Candidate Harm: </a:t>
            </a:r>
            <a:r>
              <a:rPr>
                <a:solidFill>
                  <a:srgbClr val="94A3B8"/>
                </a:solidFill>
              </a:rPr>
              <a:t>Leads to severe outcomes including financial extortion (fees) and harvesting of personal identification info.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Opaque Black-Box Models: </a:t>
            </a:r>
            <a:r>
              <a:rPr>
                <a:solidFill>
                  <a:srgbClr val="94A3B8"/>
                </a:solidFill>
              </a:rPr>
              <a:t>Modern classifiers predict fraud probabilities but offer zero explanation of results, leaving candidates unable to verify details.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Proposed Project Vision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Actionable Interpretability: </a:t>
            </a:r>
            <a:r>
              <a:rPr>
                <a:solidFill>
                  <a:srgbClr val="94A3B8"/>
                </a:solidFill>
              </a:rPr>
              <a:t>Move from opaque binary classifications to detailed warnings showing exactly why a post is flagged as suspicious.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Domain-Specific Heuristics: </a:t>
            </a:r>
            <a:r>
              <a:rPr>
                <a:solidFill>
                  <a:srgbClr val="94A3B8"/>
                </a:solidFill>
              </a:rPr>
              <a:t>Cross-validate model evaluations against rule-based indicators (e.g. registration fee requests, free domains).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Auditable Trust Decisions: </a:t>
            </a:r>
            <a:r>
              <a:rPr>
                <a:solidFill>
                  <a:srgbClr val="94A3B8"/>
                </a:solidFill>
              </a:rPr>
              <a:t>Empower candidate decision support with dynamic explanation panels (SHAP / LIME) and risk badges.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Ingestion Adaptability: </a:t>
            </a:r>
            <a:r>
              <a:rPr>
                <a:solidFill>
                  <a:srgbClr val="94A3B8"/>
                </a:solidFill>
              </a:rPr>
              <a:t>Provide uniform scanning pipelines for structured URLs, raw text, documents (PDF), and screenshot images (OCR).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2. Base Paper vs. Proposed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693615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Fraud-BERT Baseline (Taneja et al., 2025)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Proposed Extension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ML Model 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Standard BERT-base-uncased classifier.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BERT-base-uncased with tuned decision boundaries.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None (Black Box). Labels only.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Interactive SHAP (Global population features) and LIME (Local word explanations).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Trust Indicators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None.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0-100 deterministic Trust Score based on 8 heuristics (domain, logo, contact checks).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Severity Index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None.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0-100 danger indicator detecting money requests and WhatsApp/Telegram recruitments.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Risk Tiering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None.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4-tier Risk Badge (Low, Medium, High, Critical) mapping BERT prob and Trust Score.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Ingestion Modes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Text fields only.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Supports URL scraping, PDF extraction, screenshot image OCR, and raw text.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3. System Architecture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Frontend (React 19)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Ingests job links, raw text, PDF files, and image files.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Displays the interactive Explainability Dashboard.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Renders LIME highlighting and SHAP feature panels.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Connects only to Node.js backend (strict separation).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Backend (Node/Express)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Authentication &amp; session management.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Enforces rate limiting and input validation rules.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Logs query details and transaction results to MongoDB.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Proxies verified requests to Python FastAPI AI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3108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AI Service (FastAPI)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Executes tokenization and clean preprocessing.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Fine-tuned BERT classification inference.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Calculates Trust, Severity and Risk Score metrics.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Precomputes SHAP cache; runs LIME iterations 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11094415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500" b="1">
                <a:solidFill>
                  <a:srgbClr val="60A5FA"/>
                </a:solidFill>
                <a:latin typeface="Trebuchet MS"/>
              </a:defRPr>
            </a:pPr>
            <a:r>
              <a:t>Decoupled Data Architecture &amp; Deployment Setup</a:t>
            </a:r>
          </a:p>
          <a:p>
            <a:pPr>
              <a:lnSpc>
                <a:spcPct val="115000"/>
              </a:lnSpc>
              <a:defRPr sz="1200">
                <a:solidFill>
                  <a:srgbClr val="F8FAFC"/>
                </a:solidFill>
                <a:latin typeface="Calibri"/>
              </a:defRPr>
            </a:pPr>
            <a:r>
              <a:t>• Database Layer: MongoDB houses 'users' (auth details) and 'analyses' schemas (saving predictions and audit records).</a:t>
            </a:r>
            <a:br/>
            <a:r>
              <a:t>• Performance Caching: The BERT model classifier and the precomputed global SHAP values are loaded once on FastAPI startup to avoid local execution bottlenecks.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4. Dataset &amp; Data Imbalance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EMSCAD Dataset Properties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Total Records: </a:t>
            </a:r>
            <a:r>
              <a:rPr>
                <a:solidFill>
                  <a:srgbClr val="94A3B8"/>
                </a:solidFill>
              </a:rPr>
              <a:t>17,880 postings mapped across 18 schema variables.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Severe Imbalance: </a:t>
            </a:r>
            <a:r>
              <a:rPr>
                <a:solidFill>
                  <a:srgbClr val="94A3B8"/>
                </a:solidFill>
              </a:rPr>
              <a:t>17,014 Legitimate postings vs. only 866 Fraudulent postings (4.84%).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weighted loss: </a:t>
            </a:r>
            <a:r>
              <a:rPr>
                <a:solidFill>
                  <a:srgbClr val="94A3B8"/>
                </a:solidFill>
              </a:rPr>
              <a:t>To prevent classifier collapse (where models optimize simple accuracy by predicting only the majority class), we apply class weights in our cross-entropy loss function during BERT training.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Text Preprocessing: </a:t>
            </a:r>
            <a:r>
              <a:rPr>
                <a:solidFill>
                  <a:srgbClr val="94A3B8"/>
                </a:solidFill>
              </a:rPr>
              <a:t>Strips HTML tags, normalizes Unicode characters, aggregates nested fields (profile, requirements), and performs WordPiece tokenization.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Missingness Percentages: Legit vs Fraud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2011680"/>
          <a:ext cx="542513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Missing (Legit)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Missing (Fraud)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company_profile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15.99%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67.78%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salary_range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84.45%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74.25%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40.30%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42.03%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requirements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14.95%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17.78%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4572000"/>
            <a:ext cx="5425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Trebuchet MS"/>
              </a:defRPr>
            </a:pPr>
            <a:r>
              <a:t>Signal Validation Insight: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  <a:latin typeface="Calibri"/>
              </a:defRPr>
            </a:pPr>
            <a:r>
              <a:t>The significant difference in missing company profiles (67.78% in fraud vs. 15.99% in legitimate postings) confirms that lacking profile details is a strong warning sign. This directly validates the rule penalties used in the trust score scorecard.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5. AI Classification Pipeline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90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1. Input Ingest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Extracts text from scraped URLs, processes PDF files using PyMuPDF, or runs EasyOCR on screenshot images.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2015" y="1645920"/>
            <a:ext cx="2590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2. Preprocess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Strips HTML characters, cleans emojis, normalizes whitespace formats, and generates WordPiece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390" y="1645920"/>
            <a:ext cx="2590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3. ML Inference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Fine-tuned BERT-base-uncased computes raw classification probability. Applies tuned 0.65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8765" y="1645920"/>
            <a:ext cx="2590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4. Output Engines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Runs heuristic calculations for Trust/Severity scorecards and runs live LIME explainability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6. Explainable AI (XAI)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LIME (Local/Instance Explanations)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Real-time Perturbation: </a:t>
            </a:r>
            <a:r>
              <a:rPr>
                <a:solidFill>
                  <a:srgbClr val="94A3B8"/>
                </a:solidFill>
              </a:rPr>
              <a:t>Runs live per evaluation request, perturbing input sentences locally to observe model classification score fluctuations.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Word-Level Highlighting: </a:t>
            </a:r>
            <a:r>
              <a:rPr>
                <a:solidFill>
                  <a:srgbClr val="94A3B8"/>
                </a:solidFill>
              </a:rPr>
              <a:t>Identifies specific words driving predictions, color-coding features for job seekers (Legitimate signals vs. Fraud signals).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Transparency Focus: </a:t>
            </a:r>
            <a:r>
              <a:rPr>
                <a:solidFill>
                  <a:srgbClr val="94A3B8"/>
                </a:solidFill>
              </a:rPr>
              <a:t>Highlights suspicious terms like 'urgent', 'registration fee', and 'wire transfer' so applicants know exactly why a warning was raised.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SHAP (Global/Population Explanations)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Population Analysis: </a:t>
            </a:r>
            <a:r>
              <a:rPr>
                <a:solidFill>
                  <a:srgbClr val="94A3B8"/>
                </a:solidFill>
              </a:rPr>
              <a:t>Computes cooperative game theory attribution scores across the entire EMSCAD training dataset.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Startup Optimization: </a:t>
            </a:r>
            <a:r>
              <a:rPr>
                <a:solidFill>
                  <a:srgbClr val="94A3B8"/>
                </a:solidFill>
              </a:rPr>
              <a:t>SHAP values are precomputed offline due to high overhead, cached on disk, and loaded immediately at application start.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System Verification: </a:t>
            </a:r>
            <a:r>
              <a:rPr>
                <a:solidFill>
                  <a:srgbClr val="94A3B8"/>
                </a:solidFill>
              </a:rPr>
              <a:t>Provides developers with an overview of what the BERT model learns overall, ensuring it avoids dataset bias or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7. Deterministic Trust Score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Transparent Trust Evaluation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Anti-Stacking Approach: </a:t>
            </a:r>
            <a:r>
              <a:rPr>
                <a:solidFill>
                  <a:srgbClr val="94A3B8"/>
                </a:solidFill>
              </a:rPr>
              <a:t>Avoids placing a second opaque ML model on top of BERT. Instead, standard deterministic rules are used to score trust.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Heuristic Deductions: </a:t>
            </a:r>
            <a:r>
              <a:rPr>
                <a:solidFill>
                  <a:srgbClr val="94A3B8"/>
                </a:solidFill>
              </a:rPr>
              <a:t>Starts at 100 points. Penalties are deducted when specific anomalies are detected in text or metadata.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8 Active Indicators: </a:t>
            </a:r>
            <a:r>
              <a:rPr>
                <a:solidFill>
                  <a:srgbClr val="94A3B8"/>
                </a:solidFill>
              </a:rPr>
              <a:t>Checks contacts for free email domains (Gmail/Yahoo), missing company logo, registration fee mentions, missing location coordinates, and layout anomalies.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Layout Adaptability: </a:t>
            </a:r>
            <a:r>
              <a:rPr>
                <a:solidFill>
                  <a:srgbClr val="94A3B8"/>
                </a:solidFill>
              </a:rPr>
              <a:t>Identifies if text comes from unstructured formats (PDF/OCR) to avoid penalizing missing field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Trust Scoring Bounds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90 - 100: </a:t>
            </a:r>
            <a:r>
              <a:rPr>
                <a:solidFill>
                  <a:srgbClr val="94A3B8"/>
                </a:solidFill>
              </a:rPr>
              <a:t>High Trust: Postings from verified recruiters with complete company profiles and zero warnings.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70 - 89: </a:t>
            </a:r>
            <a:r>
              <a:rPr>
                <a:solidFill>
                  <a:srgbClr val="94A3B8"/>
                </a:solidFill>
              </a:rPr>
              <a:t>Moderate Trust: Minor missing parameters with valid contact info and standard text layout.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50 - 69: </a:t>
            </a:r>
            <a:r>
              <a:rPr>
                <a:solidFill>
                  <a:srgbClr val="94A3B8"/>
                </a:solidFill>
              </a:rPr>
              <a:t>Low Trust: Multiple warning signals detected. High missingness rates. Job seeker caution advised.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Below 50: </a:t>
            </a:r>
            <a:r>
              <a:rPr>
                <a:solidFill>
                  <a:srgbClr val="94A3B8"/>
                </a:solidFill>
              </a:rPr>
              <a:t>Unreliable / Highly Suspicious: Severe warning triggers (e.g. fees requested). Extreme missingness.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8. Risk &amp; Severity Scorecards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Fraud Severity Score (0-100)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Impact Metric: </a:t>
            </a:r>
            <a:r>
              <a:rPr>
                <a:solidFill>
                  <a:srgbClr val="94A3B8"/>
                </a:solidFill>
              </a:rPr>
              <a:t>Evaluates the harm a fraudulent listing poses to candidate safety, rather than just raw prediction likelihood.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6 Severe Signals: </a:t>
            </a:r>
            <a:r>
              <a:rPr>
                <a:solidFill>
                  <a:srgbClr val="94A3B8"/>
                </a:solidFill>
              </a:rPr>
              <a:t>Detects payment checks, bank account setup forms, wire transfer requests, and application processing fee rules.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Communication Risks: </a:t>
            </a:r>
            <a:r>
              <a:rPr>
                <a:solidFill>
                  <a:srgbClr val="94A3B8"/>
                </a:solidFill>
              </a:rPr>
              <a:t>Deducts major points if recruitment is directed strictly to mobile messaging apps (WhatsApp, Telegram, SMS).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Classification Safeguard: </a:t>
            </a:r>
            <a:r>
              <a:rPr>
                <a:solidFill>
                  <a:srgbClr val="94A3B8"/>
                </a:solidFill>
              </a:rPr>
              <a:t>High severity triggers elevate final risk recommendations, even if the ML classifier probability is 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Risk Categorization Matrix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Bivariate Mapping: </a:t>
            </a:r>
            <a:r>
              <a:rPr>
                <a:solidFill>
                  <a:srgbClr val="94A3B8"/>
                </a:solidFill>
              </a:rPr>
              <a:t>Maps coordinates of the BERT raw probability and the Heuristic Trust Score to output 4 discrete risk tiers.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Risk Badges: </a:t>
            </a:r>
            <a:r>
              <a:rPr>
                <a:solidFill>
                  <a:srgbClr val="94A3B8"/>
                </a:solidFill>
              </a:rPr>
              <a:t>Low Risk (Green), Medium Risk (Amber), High Risk (Orange), and Critical Risk (Red).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Probability Mitigation: </a:t>
            </a:r>
            <a:r>
              <a:rPr>
                <a:solidFill>
                  <a:srgbClr val="94A3B8"/>
                </a:solidFill>
              </a:rPr>
              <a:t>If BERT classifier output is low (e.g. 0.15) but the trust score is poor, the risk category is escalated to Medium.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Audit Trails: </a:t>
            </a:r>
            <a:r>
              <a:rPr>
                <a:solidFill>
                  <a:srgbClr val="94A3B8"/>
                </a:solidFill>
              </a:rPr>
              <a:t>Every risk categorization is logged in MongoDB to support developer audit reviews.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9. Model 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Metrics on Held-Out Test Set (2682 records)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Accuracy Score: </a:t>
            </a:r>
            <a:r>
              <a:rPr>
                <a:solidFill>
                  <a:srgbClr val="94A3B8"/>
                </a:solidFill>
              </a:rPr>
              <a:t>98.73% classification accuracy on unseen EMSCAD test instances.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Precision Metric: </a:t>
            </a:r>
            <a:r>
              <a:rPr>
                <a:solidFill>
                  <a:srgbClr val="94A3B8"/>
                </a:solidFill>
              </a:rPr>
              <a:t>90.68% - high precision reduces false positive warnings for legitimate recruiters.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Recall Metric: </a:t>
            </a:r>
            <a:r>
              <a:rPr>
                <a:solidFill>
                  <a:srgbClr val="94A3B8"/>
                </a:solidFill>
              </a:rPr>
              <a:t>82.31% - leaves room for optimization via focal loss adjustments.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F1-Score: </a:t>
            </a:r>
            <a:r>
              <a:rPr>
                <a:solidFill>
                  <a:srgbClr val="94A3B8"/>
                </a:solidFill>
              </a:rPr>
              <a:t>0.863 overall F1-score in detecting fraudulent listings.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ROC-AUC Score: </a:t>
            </a:r>
            <a:r>
              <a:rPr>
                <a:solidFill>
                  <a:srgbClr val="94A3B8"/>
                </a:solidFill>
              </a:rPr>
              <a:t>0.983 area under curve shows strong discrimination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Test Set Confusion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2011680"/>
          <a:ext cx="542513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Pred Legitimate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0A5FA"/>
                          </a:solidFill>
                          <a:latin typeface="Trebuchet MS"/>
                        </a:defRPr>
                      </a:pPr>
                      <a:r>
                        <a:t>Pred Fraudulent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Actual Legitimate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2,541 (TN)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11 (FP)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Actual Fraudulent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23 (FN)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107 (TP)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4389120"/>
            <a:ext cx="5425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  <a:latin typeface="Trebuchet MS"/>
              </a:defRPr>
            </a:pPr>
            <a:r>
              <a:t>Baseline Validation Summary:</a:t>
            </a:r>
          </a:p>
          <a:p>
            <a:pPr>
              <a:lnSpc>
                <a:spcPct val="125000"/>
              </a:lnSpc>
              <a:defRPr sz="1200">
                <a:solidFill>
                  <a:srgbClr val="94A3B8"/>
                </a:solidFill>
                <a:latin typeface="Calibri"/>
              </a:defRPr>
            </a:pPr>
            <a:r>
              <a:t>Accuracy (98.73%) is very close to the base paper baseline (99%). Our recall (82.31%) is slightly lower than baseline (93%) in this run. Precision (90.68%) is highly optimized to avoid warning user candidates unnecessarily.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Trebuchet MS"/>
              </a:defRPr>
            </a:pPr>
            <a:r>
              <a:t>10. Key Contribution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201168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Research Novelty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Dual XAI Integration: </a:t>
            </a:r>
            <a:r>
              <a:rPr>
                <a:solidFill>
                  <a:srgbClr val="94A3B8"/>
                </a:solidFill>
              </a:rPr>
              <a:t>Combines local explainability (LIME) and global explainability (SHAP) with deep BERT classification.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Bivariate Risk Framework: </a:t>
            </a:r>
            <a:r>
              <a:rPr>
                <a:solidFill>
                  <a:srgbClr val="94A3B8"/>
                </a:solidFill>
              </a:rPr>
              <a:t>Combines neural network probabilities with deterministic heuristics to compute a reliable scorecard.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Multi-Input Modality: </a:t>
            </a:r>
            <a:r>
              <a:rPr>
                <a:solidFill>
                  <a:srgbClr val="94A3B8"/>
                </a:solidFill>
              </a:rPr>
              <a:t>Supports scraped URLs, parsed PDF files, raw text, and screenshot images (OCR pipelines).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Auditable Codebase: </a:t>
            </a:r>
            <a:r>
              <a:rPr>
                <a:solidFill>
                  <a:srgbClr val="94A3B8"/>
                </a:solidFill>
              </a:rPr>
              <a:t>Comprehensive integration tests verify classifier outputs across edits.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Future Research Roadmap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Browser extension: </a:t>
            </a:r>
            <a:r>
              <a:rPr>
                <a:solidFill>
                  <a:srgbClr val="94A3B8"/>
                </a:solidFill>
              </a:rPr>
              <a:t>Real-time in-page scanning tool to analyze listings on LinkedIn and recruitment boards.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Multilingual Support: </a:t>
            </a:r>
            <a:r>
              <a:rPr>
                <a:solidFill>
                  <a:srgbClr val="94A3B8"/>
                </a:solidFill>
              </a:rPr>
              <a:t>Add tokenizers and classifiers for listings in Spanish, German, French, etc.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Continual Learning: </a:t>
            </a:r>
            <a:r>
              <a:rPr>
                <a:solidFill>
                  <a:srgbClr val="94A3B8"/>
                </a:solidFill>
              </a:rPr>
              <a:t>Deploy pipelines to automatically update model weights as new scams are reported.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 Platform APIs: </a:t>
            </a:r>
            <a:r>
              <a:rPr>
                <a:solidFill>
                  <a:srgbClr val="94A3B8"/>
                </a:solidFill>
              </a:rPr>
              <a:t>Enable recruitment portals to query listings via validation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Trebuchet MS"/>
              </a:defRPr>
            </a:pPr>
            <a:r>
              <a:t>Conclusion &amp; Q&amp;A</a:t>
            </a:r>
          </a:p>
          <a:p>
            <a:pPr>
              <a:spcBef>
                <a:spcPts val="800"/>
              </a:spcBef>
              <a:defRPr sz="1800">
                <a:solidFill>
                  <a:srgbClr val="3B82F6"/>
                </a:solidFill>
                <a:latin typeface="Calibri"/>
              </a:defRPr>
            </a:pPr>
            <a:r>
              <a:t>A major step forward in recruitment security, bringing transparency to fake job classification.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657600"/>
            <a:ext cx="68580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Trebuchet MS"/>
              </a:defRPr>
            </a:pPr>
            <a:r>
              <a:t>Repository Blueprint Summary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ai_service/     - Python FastAPI model processing logic.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backend/        - Node.js MVC Gateway &amp; MongoDB connection layer.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frontend/       - React Dashboard with interactive LIME visualizations.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docs/ARCHITECTURE.md - Full three-tier architecture definitions.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365760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60A5FA"/>
                </a:solidFill>
                <a:latin typeface="Trebuchet MS"/>
              </a:defRPr>
            </a:pPr>
            <a:r>
              <a:t>Questions &amp; Discussion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  <a:latin typeface="Calibri"/>
              </a:defRPr>
            </a:pPr>
            <a:r>
              <a:t>We welcome your questions regarding model training, SHAP/LIME integration thresholds, or scoring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Calibri"/>
              </a:defRPr>
            </a:pPr>
            <a:r>
              <a:t>Explainable Fake Job Advertisement Detection Framework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